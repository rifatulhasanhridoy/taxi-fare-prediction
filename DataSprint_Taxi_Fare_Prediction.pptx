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1E2761"/>
                </a:solidFill>
                <a:latin typeface="Arial"/>
              </a:rPr>
              <a:t>R² Score (higher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40C-DB47-A358-862299359A69}"/>
              </c:ext>
            </c:extLst>
          </c:dPt>
          <c:dPt>
            <c:idx val="1"/>
            <c:invertIfNegative val="0"/>
            <c:bubble3D val="0"/>
            <c:spPr>
              <a:solidFill>
                <a:srgbClr val="0F9D5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40C-DB47-A358-862299359A6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B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Linear Regression</c:v>
                </c:pt>
                <c:pt idx="1">
                  <c:v>Random Forest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0.77</c:v>
                </c:pt>
                <c:pt idx="1">
                  <c:v>0.92879999999999996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40C-DB47-A358-862299359A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1E2761"/>
                </a:solidFill>
                <a:latin typeface="Arial"/>
              </a:rPr>
              <a:t>Error Metrics (lower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 Regression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B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MAE</c:v>
                </c:pt>
                <c:pt idx="1">
                  <c:v>RMSE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9.8422999999999998</c:v>
                </c:pt>
                <c:pt idx="1">
                  <c:v>13.8223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3D-9E4C-8552-2CFB9DCD05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0F9D5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B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MAE</c:v>
                </c:pt>
                <c:pt idx="1">
                  <c:v>RMSE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5.4137000000000004</c:v>
                </c:pt>
                <c:pt idx="1">
                  <c:v>7.6913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93D-9E4C-8552-2CFB9DCD05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1E2761"/>
                </a:solidFill>
                <a:latin typeface="Arial"/>
              </a:rPr>
              <a:t>Random Forest Feature Importance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2A6-F240-AD39-81798532DF3F}"/>
              </c:ext>
            </c:extLst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2A6-F240-AD39-81798532DF3F}"/>
              </c:ext>
            </c:extLst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2A6-F240-AD39-81798532DF3F}"/>
              </c:ext>
            </c:extLst>
          </c:dPt>
          <c:dPt>
            <c:idx val="3"/>
            <c:invertIfNegative val="0"/>
            <c:bubble3D val="0"/>
            <c:spPr>
              <a:solidFill>
                <a:srgbClr val="4285F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2A6-F240-AD39-81798532DF3F}"/>
              </c:ext>
            </c:extLst>
          </c:dPt>
          <c:dPt>
            <c:idx val="4"/>
            <c:invertIfNegative val="0"/>
            <c:bubble3D val="0"/>
            <c:spPr>
              <a:solidFill>
                <a:srgbClr val="4285F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2A6-F240-AD39-81798532DF3F}"/>
              </c:ext>
            </c:extLst>
          </c:dPt>
          <c:dPt>
            <c:idx val="5"/>
            <c:invertIfNegative val="0"/>
            <c:bubble3D val="0"/>
            <c:spPr>
              <a:solidFill>
                <a:srgbClr val="AEBB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2A6-F240-AD39-81798532DF3F}"/>
              </c:ext>
            </c:extLst>
          </c:dPt>
          <c:dPt>
            <c:idx val="6"/>
            <c:invertIfNegative val="0"/>
            <c:bubble3D val="0"/>
            <c:spPr>
              <a:solidFill>
                <a:srgbClr val="AEBB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2A6-F240-AD39-81798532DF3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B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Per_Km_Rate</c:v>
                </c:pt>
                <c:pt idx="1">
                  <c:v>Trip_Distance_km</c:v>
                </c:pt>
                <c:pt idx="2">
                  <c:v>Base_Fare</c:v>
                </c:pt>
                <c:pt idx="3">
                  <c:v>Per_Minute_Rate</c:v>
                </c:pt>
                <c:pt idx="4">
                  <c:v>Trip_Duration_Minutes</c:v>
                </c:pt>
                <c:pt idx="5">
                  <c:v>Traffic_Conditions</c:v>
                </c:pt>
                <c:pt idx="6">
                  <c:v>Others (combined)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0.31</c:v>
                </c:pt>
                <c:pt idx="1">
                  <c:v>0.26</c:v>
                </c:pt>
                <c:pt idx="2">
                  <c:v>0.18</c:v>
                </c:pt>
                <c:pt idx="3">
                  <c:v>0.12</c:v>
                </c:pt>
                <c:pt idx="4">
                  <c:v>7.0000000000000007E-2</c:v>
                </c:pt>
                <c:pt idx="5">
                  <c:v>0.03</c:v>
                </c:pt>
                <c:pt idx="6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E2A6-F240-AD39-81798532DF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7661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" name="Shape 2"/>
          <p:cNvSpPr/>
          <p:nvPr/>
        </p:nvSpPr>
        <p:spPr>
          <a:xfrm>
            <a:off x="7955280" y="-274320"/>
            <a:ext cx="1645920" cy="1645920"/>
          </a:xfrm>
          <a:prstGeom prst="ellipse">
            <a:avLst/>
          </a:prstGeom>
          <a:solidFill>
            <a:srgbClr val="4285F4">
              <a:alpha val="30000"/>
            </a:srgbClr>
          </a:solidFill>
          <a:ln w="12700">
            <a:solidFill>
              <a:srgbClr val="4285F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Taxi Trip Fares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11480" y="1737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Machine Learning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2487168"/>
            <a:ext cx="4114800" cy="36576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WM-ASDS04: Introduction to Data Science with Python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971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Rifatul Hasan (20251734)  |  Md Muhammad Raju (20251740)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DataSprint  |  Jahangirnagar University  |  24 April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611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Farhana Akter Bina, Assistant Professor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60320" cy="155448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56032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285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 and motivation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560320" cy="155448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56032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0" name="Text 8"/>
          <p:cNvSpPr/>
          <p:nvPr/>
        </p:nvSpPr>
        <p:spPr>
          <a:xfrm>
            <a:off x="3291840" y="1143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285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0" y="1554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Objectives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2011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source, features, and goals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560320" cy="155448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56032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5" name="Text 13"/>
          <p:cNvSpPr/>
          <p:nvPr/>
        </p:nvSpPr>
        <p:spPr>
          <a:xfrm>
            <a:off x="6126480" y="1143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285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0" y="1554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011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 and models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463040" y="2926080"/>
            <a:ext cx="2560320" cy="155448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9" name="Shape 17"/>
          <p:cNvSpPr/>
          <p:nvPr/>
        </p:nvSpPr>
        <p:spPr>
          <a:xfrm>
            <a:off x="1463040" y="2926080"/>
            <a:ext cx="256032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20" name="Text 18"/>
          <p:cNvSpPr/>
          <p:nvPr/>
        </p:nvSpPr>
        <p:spPr>
          <a:xfrm>
            <a:off x="1463040" y="3017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285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Comparison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54480" y="3886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and findings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97680" y="2926080"/>
            <a:ext cx="2560320" cy="155448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24" name="Shape 22"/>
          <p:cNvSpPr/>
          <p:nvPr/>
        </p:nvSpPr>
        <p:spPr>
          <a:xfrm>
            <a:off x="4297680" y="2926080"/>
            <a:ext cx="256032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25" name="Text 23"/>
          <p:cNvSpPr/>
          <p:nvPr/>
        </p:nvSpPr>
        <p:spPr>
          <a:xfrm>
            <a:off x="4297680" y="3017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285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38912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89120" y="3886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future work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DataSprint  |  WM-ASDS04  |  Jahangirnagar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 Motivation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 fare pricing depends on multiple interacting factors — distance, time, traffic, and weather. Traditional rule-based pricing often fails to capture these complexities.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Machine Learning?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learn non-linear patterns from historical data, enabling more accurate and dynamic fare predictions compared to static formulae.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Relevance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like Uber, Lyft, and Pathao already use predictive pricing. This study builds a foundational pipeline applicable to such systems.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0" y="1143000"/>
            <a:ext cx="3291840" cy="35204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5486400" y="12344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Factors 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Fare Pricing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23560" y="1965960"/>
            <a:ext cx="1463040" cy="65836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9" name="Text 7"/>
          <p:cNvSpPr/>
          <p:nvPr/>
        </p:nvSpPr>
        <p:spPr>
          <a:xfrm>
            <a:off x="5623560" y="196596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🚕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Distance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223760" y="1965960"/>
            <a:ext cx="1463040" cy="65836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1" name="Text 9"/>
          <p:cNvSpPr/>
          <p:nvPr/>
        </p:nvSpPr>
        <p:spPr>
          <a:xfrm>
            <a:off x="7223760" y="196596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Duration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23560" y="2788920"/>
            <a:ext cx="1463040" cy="65836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3" name="Text 11"/>
          <p:cNvSpPr/>
          <p:nvPr/>
        </p:nvSpPr>
        <p:spPr>
          <a:xfrm>
            <a:off x="5623560" y="278892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Conditions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23760" y="2788920"/>
            <a:ext cx="1463040" cy="65836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5" name="Text 13"/>
          <p:cNvSpPr/>
          <p:nvPr/>
        </p:nvSpPr>
        <p:spPr>
          <a:xfrm>
            <a:off x="7223760" y="278892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🌦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23560" y="3611880"/>
            <a:ext cx="1463040" cy="65836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7" name="Text 15"/>
          <p:cNvSpPr/>
          <p:nvPr/>
        </p:nvSpPr>
        <p:spPr>
          <a:xfrm>
            <a:off x="5623560" y="361188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23760" y="3611880"/>
            <a:ext cx="1463040" cy="65836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9" name="Text 17"/>
          <p:cNvSpPr/>
          <p:nvPr/>
        </p:nvSpPr>
        <p:spPr>
          <a:xfrm>
            <a:off x="7223760" y="361188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Count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DataSprint  |  WM-ASDS04  |  Jahangirnagar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91440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— denkuznetz/taxi-price-prediction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records  |  11 features  |  Synthetic data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4023360" cy="26365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Trip_Distance_km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float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Distance in km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Time_of_Day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cat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Morning/Afternoon/Evening/Night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Day_of_Week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cat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Monday–Sunday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Traffic_Conditions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cat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Low / Medium / 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Weather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cat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Clear / Rain / Snow etc.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Trip_Duration_Minutes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float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Duration in minutes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Trip_Price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float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9D58"/>
                          </a:solidFill>
                        </a:rPr>
                        <a:t>Target variable 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754880" y="1572768"/>
            <a:ext cx="256032" cy="256032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0" name="Text 7"/>
          <p:cNvSpPr/>
          <p:nvPr/>
        </p:nvSpPr>
        <p:spPr>
          <a:xfrm>
            <a:off x="4754880" y="1572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84064" y="15727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preprocess the taxi dataset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2093976"/>
            <a:ext cx="256032" cy="256032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3" name="Text 10"/>
          <p:cNvSpPr/>
          <p:nvPr/>
        </p:nvSpPr>
        <p:spPr>
          <a:xfrm>
            <a:off x="4754880" y="2093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084064" y="20939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EDA with advanced visualisations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2615184"/>
            <a:ext cx="256032" cy="256032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6" name="Text 13"/>
          <p:cNvSpPr/>
          <p:nvPr/>
        </p:nvSpPr>
        <p:spPr>
          <a:xfrm>
            <a:off x="4754880" y="2615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084064" y="26151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Linear Regression (baseline)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3136392"/>
            <a:ext cx="256032" cy="256032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9" name="Text 16"/>
          <p:cNvSpPr/>
          <p:nvPr/>
        </p:nvSpPr>
        <p:spPr>
          <a:xfrm>
            <a:off x="4754880" y="3136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084064" y="31363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Random Forest Regressor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54880" y="3657600"/>
            <a:ext cx="256032" cy="256032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22" name="Text 19"/>
          <p:cNvSpPr/>
          <p:nvPr/>
        </p:nvSpPr>
        <p:spPr>
          <a:xfrm>
            <a:off x="4754880" y="3657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084064" y="36576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 using R², MAE, RMSE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54880" y="4178808"/>
            <a:ext cx="256032" cy="256032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25" name="Text 22"/>
          <p:cNvSpPr/>
          <p:nvPr/>
        </p:nvSpPr>
        <p:spPr>
          <a:xfrm>
            <a:off x="4754880" y="4178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084064" y="41788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fare-driving features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DataSprint  |  WM-ASDS04  |  Jahangirnagar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554480" cy="2651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7556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2212848"/>
            <a:ext cx="1417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rows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features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via pandas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0" y="256032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0" name="Shape 8"/>
          <p:cNvSpPr/>
          <p:nvPr/>
        </p:nvSpPr>
        <p:spPr>
          <a:xfrm>
            <a:off x="1993392" y="1234440"/>
            <a:ext cx="1554480" cy="265176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1" name="Text 9"/>
          <p:cNvSpPr/>
          <p:nvPr/>
        </p:nvSpPr>
        <p:spPr>
          <a:xfrm>
            <a:off x="1993392" y="1325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93392" y="17556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66544" y="2212848"/>
            <a:ext cx="1417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NaN values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(num)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(cat)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47872" y="256032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5" name="Shape 13"/>
          <p:cNvSpPr/>
          <p:nvPr/>
        </p:nvSpPr>
        <p:spPr>
          <a:xfrm>
            <a:off x="3712464" y="1234440"/>
            <a:ext cx="1554480" cy="2651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6" name="Text 14"/>
          <p:cNvSpPr/>
          <p:nvPr/>
        </p:nvSpPr>
        <p:spPr>
          <a:xfrm>
            <a:off x="3712464" y="1325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12464" y="17556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85616" y="2212848"/>
            <a:ext cx="1417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cat. columns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Day, Traffic, Weather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266944" y="256032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0" name="Shape 18"/>
          <p:cNvSpPr/>
          <p:nvPr/>
        </p:nvSpPr>
        <p:spPr>
          <a:xfrm>
            <a:off x="5431536" y="1234440"/>
            <a:ext cx="1554480" cy="265176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21" name="Text 19"/>
          <p:cNvSpPr/>
          <p:nvPr/>
        </p:nvSpPr>
        <p:spPr>
          <a:xfrm>
            <a:off x="5431536" y="1325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31536" y="17556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04688" y="2212848"/>
            <a:ext cx="1417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(800)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Test (200)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state 42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86016" y="256032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5" name="Shape 23"/>
          <p:cNvSpPr/>
          <p:nvPr/>
        </p:nvSpPr>
        <p:spPr>
          <a:xfrm>
            <a:off x="7150608" y="1234440"/>
            <a:ext cx="1554480" cy="2651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26" name="Text 24"/>
          <p:cNvSpPr/>
          <p:nvPr/>
        </p:nvSpPr>
        <p:spPr>
          <a:xfrm>
            <a:off x="7150608" y="1325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50608" y="17556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Features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2212848"/>
            <a:ext cx="1417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mean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variance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0" name="Text 28"/>
          <p:cNvSpPr/>
          <p:nvPr/>
        </p:nvSpPr>
        <p:spPr>
          <a:xfrm>
            <a:off x="640080" y="4114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Used: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011680" y="40965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Baseline parametric model (with StandardScaler)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011680" y="44074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 — 100 trees, ensemble method (no scaling needed)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DataSprint  |  WM-ASDS04  |  Jahangirnagar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1F5F9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594360" y="13441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Price Distribution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distribution with most fares in mid-range. KDE overlay confirms positive tail.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91840" y="246888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00600" y="1234440"/>
            <a:ext cx="3977640" cy="1600200"/>
          </a:xfrm>
          <a:prstGeom prst="rect">
            <a:avLst/>
          </a:prstGeom>
          <a:solidFill>
            <a:srgbClr val="F1F5F9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2" name="Shape 10"/>
          <p:cNvSpPr/>
          <p:nvPr/>
        </p:nvSpPr>
        <p:spPr>
          <a:xfrm>
            <a:off x="4800600" y="1234440"/>
            <a:ext cx="54864" cy="16002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3" name="Text 11"/>
          <p:cNvSpPr/>
          <p:nvPr/>
        </p:nvSpPr>
        <p:spPr>
          <a:xfrm>
            <a:off x="4937760" y="13441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Per_Km_Rate, Trip_Distance, Base_Fare most correlated with Trip_Price. Advanced viz.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635240" y="246888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1F5F9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BD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9" name="Text 17"/>
          <p:cNvSpPr/>
          <p:nvPr/>
        </p:nvSpPr>
        <p:spPr>
          <a:xfrm>
            <a:off x="594360" y="31272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by Traffic Conditions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4747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traffic trips show noticeably higher fare variability and median prices.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91840" y="425196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00600" y="3017520"/>
            <a:ext cx="3977640" cy="1600200"/>
          </a:xfrm>
          <a:prstGeom prst="rect">
            <a:avLst/>
          </a:prstGeom>
          <a:solidFill>
            <a:srgbClr val="F1F5F9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24" name="Shape 22"/>
          <p:cNvSpPr/>
          <p:nvPr/>
        </p:nvSpPr>
        <p:spPr>
          <a:xfrm>
            <a:off x="4800600" y="3017520"/>
            <a:ext cx="54864" cy="16002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25" name="Text 23"/>
          <p:cNvSpPr/>
          <p:nvPr/>
        </p:nvSpPr>
        <p:spPr>
          <a:xfrm>
            <a:off x="4937760" y="31272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vs Price (Scatter)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4747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positive trend. Higher traffic condition = steeper price increase per km. Advanced viz.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35240" y="425196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DataSprint  |  WM-ASDS04  |  Jahangirnagar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Results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560320" cy="7315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2560320" cy="7315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9.84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2560320" cy="7315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13.82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1188720"/>
            <a:ext cx="0" cy="356616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BD"/>
          </a:p>
        </p:txBody>
      </p:sp>
      <p:sp>
        <p:nvSpPr>
          <p:cNvPr id="19" name="Text 17"/>
          <p:cNvSpPr/>
          <p:nvPr/>
        </p:nvSpPr>
        <p:spPr>
          <a:xfrm>
            <a:off x="475488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9D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 ✓ Best Model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160020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21" name="Shape 19"/>
          <p:cNvSpPr/>
          <p:nvPr/>
        </p:nvSpPr>
        <p:spPr>
          <a:xfrm>
            <a:off x="4754880" y="1600200"/>
            <a:ext cx="2560320" cy="73152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22" name="Text 20"/>
          <p:cNvSpPr/>
          <p:nvPr/>
        </p:nvSpPr>
        <p:spPr>
          <a:xfrm>
            <a:off x="4754880" y="1737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9D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0.9288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754880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88036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25" name="Shape 23"/>
          <p:cNvSpPr/>
          <p:nvPr/>
        </p:nvSpPr>
        <p:spPr>
          <a:xfrm>
            <a:off x="4754880" y="2880360"/>
            <a:ext cx="2560320" cy="73152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26" name="Text 24"/>
          <p:cNvSpPr/>
          <p:nvPr/>
        </p:nvSpPr>
        <p:spPr>
          <a:xfrm>
            <a:off x="4754880" y="3017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9D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5.41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4754880" y="3657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65760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29" name="Shape 27"/>
          <p:cNvSpPr/>
          <p:nvPr/>
        </p:nvSpPr>
        <p:spPr>
          <a:xfrm>
            <a:off x="4754880" y="3657600"/>
            <a:ext cx="2560320" cy="73152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0" name="Text 28"/>
          <p:cNvSpPr/>
          <p:nvPr/>
        </p:nvSpPr>
        <p:spPr>
          <a:xfrm>
            <a:off x="4754880" y="3794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9D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7.69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4754880" y="4434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1691640"/>
            <a:ext cx="1188720" cy="100584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3" name="Text 31"/>
          <p:cNvSpPr/>
          <p:nvPr/>
        </p:nvSpPr>
        <p:spPr>
          <a:xfrm>
            <a:off x="3200400" y="169164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20%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R²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0" y="2926080"/>
            <a:ext cx="1188720" cy="77724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5" name="Text 33"/>
          <p:cNvSpPr/>
          <p:nvPr/>
        </p:nvSpPr>
        <p:spPr>
          <a:xfrm>
            <a:off x="3200400" y="292608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lower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0" y="3749040"/>
            <a:ext cx="1188720" cy="68580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7" name="Text 35"/>
          <p:cNvSpPr/>
          <p:nvPr/>
        </p:nvSpPr>
        <p:spPr>
          <a:xfrm>
            <a:off x="3200400" y="374904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lower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DataSprint  |  WM-ASDS04  |  Jahangirnagar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— Visual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188720"/>
          <a:ext cx="40233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663440" y="118872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8" name="Text 4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Random Forest explains 93% of fare variance vs 77% for Linear Regression — a 20% improvement, with 45% lower average prediction error.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DataSprint  |  WM-ASDS04  |  Jahangirnagar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Taxi Fares?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188720"/>
          <a:ext cx="53035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897880" y="11430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Insights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97880" y="1554480"/>
            <a:ext cx="2926080" cy="71323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8" name="Text 5"/>
          <p:cNvSpPr/>
          <p:nvPr/>
        </p:nvSpPr>
        <p:spPr>
          <a:xfrm>
            <a:off x="5989320" y="16002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Per_Km_Rate (31%)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89320" y="18470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influential factor. Higher per-km rates directly scale up the fare.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897880" y="2359152"/>
            <a:ext cx="2926080" cy="71323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1" name="Text 8"/>
          <p:cNvSpPr/>
          <p:nvPr/>
        </p:nvSpPr>
        <p:spPr>
          <a:xfrm>
            <a:off x="5989320" y="24048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Trip_Distance (26%)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89320" y="26517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trips cost more — the primary operational driver.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897880" y="3163824"/>
            <a:ext cx="2926080" cy="713232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4" name="Text 11"/>
          <p:cNvSpPr/>
          <p:nvPr/>
        </p:nvSpPr>
        <p:spPr>
          <a:xfrm>
            <a:off x="5989320" y="32095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Base_Fare (18%)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89320" y="34564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upfront charge regardless of distance or duration.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897880" y="3968496"/>
            <a:ext cx="2926080" cy="713232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7" name="Text 14"/>
          <p:cNvSpPr/>
          <p:nvPr/>
        </p:nvSpPr>
        <p:spPr>
          <a:xfrm>
            <a:off x="5989320" y="40142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Per_Minute_Rate (12%)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89320" y="42611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time cost — especially significant in high-traffic scenarios.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DataSprint  |  WM-ASDS04  |  Jahangirnagar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5" name="Text 3"/>
          <p:cNvSpPr/>
          <p:nvPr/>
        </p:nvSpPr>
        <p:spPr>
          <a:xfrm>
            <a:off x="457200" y="1033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ML Pipeline: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88920" y="109728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→ preprocessing → EDA → modelling → evaluation fully implemented in Python.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8412480" cy="6858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9" name="Text 7"/>
          <p:cNvSpPr/>
          <p:nvPr/>
        </p:nvSpPr>
        <p:spPr>
          <a:xfrm>
            <a:off x="457200" y="18379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9019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Wins: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88920" y="1901952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of 0.9288 vs 0.77 for Linear Regression — 20% improvement in explanatory power.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69464"/>
            <a:ext cx="841248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3" name="Text 11"/>
          <p:cNvSpPr/>
          <p:nvPr/>
        </p:nvSpPr>
        <p:spPr>
          <a:xfrm>
            <a:off x="457200" y="2642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270662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Lower Error: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88920" y="2706624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reduced from 9.84 to 5.41 — substantially more accurate fare predictions.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74136"/>
            <a:ext cx="8412480" cy="6858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7" name="Text 15"/>
          <p:cNvSpPr/>
          <p:nvPr/>
        </p:nvSpPr>
        <p:spPr>
          <a:xfrm>
            <a:off x="457200" y="3447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51129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Fare Drivers: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88920" y="3511296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Per-km rate, trip distance, and base fare collectively explain ~75% of fare variation.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78808"/>
            <a:ext cx="841248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21" name="Text 19"/>
          <p:cNvSpPr/>
          <p:nvPr/>
        </p:nvSpPr>
        <p:spPr>
          <a:xfrm>
            <a:off x="45720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4315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Directions: 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88920" y="4315968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XGBoost/LightGBM, add GPS coordinates, deploy as a real-time fare estimation API.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 Welcome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850</Words>
  <Application>Microsoft Macintosh PowerPoint</Application>
  <PresentationFormat>On-screen Show (16:9)</PresentationFormat>
  <Paragraphs>201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Taxi Trip Fares Using Machine Learning</dc:title>
  <dc:subject>PptxGenJS Presentation</dc:subject>
  <dc:creator>DataSprint</dc:creator>
  <cp:lastModifiedBy>Office</cp:lastModifiedBy>
  <cp:revision>2</cp:revision>
  <dcterms:created xsi:type="dcterms:W3CDTF">2026-04-23T09:14:14Z</dcterms:created>
  <dcterms:modified xsi:type="dcterms:W3CDTF">2026-04-23T11:14:52Z</dcterms:modified>
</cp:coreProperties>
</file>